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11101"/>
            <a:ext cx="75651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1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AVILEASE · DATA PLATFORM BRIEFING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092101"/>
            <a:ext cx="7565187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</a:t>
            </a:r>
            <a:endParaRPr lang="en-US" sz="3600" dirty="0"/>
          </a:p>
          <a:p>
            <a:pPr algn="l" indent="0" marL="0">
              <a:lnSpc>
                <a:spcPts val="414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fleet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372023"/>
            <a:ext cx="595878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Bef>
                <a:spcPts val="1800"/>
              </a:spcBef>
              <a:buNone/>
            </a:pPr>
            <a:r>
              <a:rPr lang="en-US" sz="1500" dirty="0">
                <a:solidFill>
                  <a:srgbClr val="B8D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and the board — same aircraft, same rent, same truth. Microsoft Fabric across Leaseworks, Core Financial, and Aerlytix.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381500"/>
            <a:ext cx="27075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AA8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architecture demo · Confidential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598271" y="4381500"/>
            <a:ext cx="74763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C0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PRODIGY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457200"/>
            <a:ext cx="803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50" y="676275"/>
            <a:ext cx="803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vs after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1282601"/>
            <a:ext cx="3784550" cy="3352949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0350" y="1306413"/>
            <a:ext cx="3784550" cy="0"/>
          </a:xfrm>
          <a:prstGeom prst="line">
            <a:avLst/>
          </a:prstGeom>
          <a:noFill/>
          <a:ln w="47625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9701" y="1609576"/>
            <a:ext cx="32903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9701" y="1996827"/>
            <a:ext cx="3225850" cy="911572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Lease, finance, and risk live in three places</a:t>
            </a:r>
            <a:endParaRPr lang="en-US" sz="1200" dirty="0"/>
          </a:p>
          <a:p>
            <a:pPr algn="l" marL="101600" indent="-101600">
              <a:lnSpc>
                <a:spcPts val="18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numbers and rent reconciled by hand</a:t>
            </a:r>
            <a:endParaRPr lang="en-US" sz="1200" dirty="0"/>
          </a:p>
          <a:p>
            <a:pPr algn="l" marL="101600" indent="-101600">
              <a:lnSpc>
                <a:spcPts val="18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packs lag the ops screen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49701" y="1282601"/>
            <a:ext cx="3784699" cy="3352949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749701" y="1306413"/>
            <a:ext cx="3784699" cy="0"/>
          </a:xfrm>
          <a:prstGeom prst="line">
            <a:avLst/>
          </a:prstGeom>
          <a:noFill/>
          <a:ln w="47625">
            <a:solidFill>
              <a:srgbClr val="00B7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051" y="1609576"/>
            <a:ext cx="32905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051" y="1996827"/>
            <a:ext cx="3225998" cy="138395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8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fleet picture — ops and the board</a:t>
            </a:r>
            <a:endParaRPr lang="en-US" sz="1200" dirty="0"/>
          </a:p>
          <a:p>
            <a:pPr algn="l" marL="101600" indent="-101600">
              <a:lnSpc>
                <a:spcPts val="18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on aircraft / MSN once, reuse everywhere</a:t>
            </a:r>
            <a:endParaRPr lang="en-US" sz="1200" dirty="0"/>
          </a:p>
          <a:p>
            <a:pPr algn="l" marL="101600" indent="-101600">
              <a:lnSpc>
                <a:spcPts val="186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reads the same checked gold layer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457200"/>
            <a:ext cx="803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50" y="676275"/>
            <a:ext cx="803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wins on day 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1257300"/>
            <a:ext cx="2472184" cy="337825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88925" y="1257300"/>
            <a:ext cx="0" cy="3378250"/>
          </a:xfrm>
          <a:prstGeom prst="line">
            <a:avLst/>
          </a:prstGeom>
          <a:noFill/>
          <a:ln w="57150">
            <a:solidFill>
              <a:srgbClr val="003B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100" y="1511201"/>
            <a:ext cx="1996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 ops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6100" y="1838176"/>
            <a:ext cx="1996991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fleet — on lease, coming off, parked — without exporting from Leaseworks.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61134" y="1257300"/>
            <a:ext cx="2472333" cy="337825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89709" y="1257300"/>
            <a:ext cx="0" cy="3378250"/>
          </a:xfrm>
          <a:prstGeom prst="line">
            <a:avLst/>
          </a:prstGeom>
          <a:noFill/>
          <a:ln w="57150">
            <a:solidFill>
              <a:srgbClr val="00B7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46884" y="1511201"/>
            <a:ext cx="1997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46884" y="1838176"/>
            <a:ext cx="1997142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and YTD next to the aircraft from Core Financial — not a second spreadsheet.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62067" y="1257300"/>
            <a:ext cx="2472333" cy="3378250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0642" y="1257300"/>
            <a:ext cx="0" cy="3378250"/>
          </a:xfrm>
          <a:prstGeom prst="line">
            <a:avLst/>
          </a:prstGeom>
          <a:noFill/>
          <a:ln w="57150">
            <a:solidFill>
              <a:srgbClr val="EC00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47817" y="1511201"/>
            <a:ext cx="1997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47817" y="1838176"/>
            <a:ext cx="1997142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figures in Power BI. If ops changes, the pack is already aligned.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457200"/>
            <a:ext cx="803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50" y="676275"/>
            <a:ext cx="803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 — then one fleet row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1104900"/>
            <a:ext cx="803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Leaseworks · Core Financial · Aerlytix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0350" y="1479500"/>
            <a:ext cx="2489150" cy="1652885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1733401"/>
            <a:ext cx="207258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8950" y="2158752"/>
            <a:ext cx="207258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8950" y="2469803"/>
            <a:ext cx="2072589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raw extracts into the lake — keep source history intact.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52651" y="1479500"/>
            <a:ext cx="2489299" cy="1652885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581251" y="1733401"/>
            <a:ext cx="2072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1251" y="2158752"/>
            <a:ext cx="2072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81251" y="2469803"/>
            <a:ext cx="2072741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keys, align currencies and dates, flag gaps early.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45101" y="1479500"/>
            <a:ext cx="2489299" cy="1652885"/>
          </a:xfrm>
          <a:prstGeom prst="roundRect">
            <a:avLst>
              <a:gd name="adj" fmla="val 46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73701" y="1733401"/>
            <a:ext cx="2072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73701" y="2158752"/>
            <a:ext cx="20727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73701" y="2469803"/>
            <a:ext cx="2072741" cy="40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gold fleet table for ops screens and Power BI.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60350" y="3310086"/>
            <a:ext cx="7874050" cy="476250"/>
          </a:xfrm>
          <a:prstGeom prst="roundRect">
            <a:avLst>
              <a:gd name="adj" fmla="val 16000"/>
            </a:avLst>
          </a:prstGeom>
          <a:solidFill>
            <a:srgbClr val="003B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88950" y="3462486"/>
            <a:ext cx="7565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on </a:t>
            </a:r>
            <a:pPr algn="l" indent="0" marL="0">
              <a:buNone/>
            </a:pPr>
            <a:r>
              <a:rPr lang="en-US" sz="12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/ MSN</a:t>
            </a:r>
            <a:pPr algn="l" indent="0" marL="0">
              <a:buNone/>
            </a:pPr>
            <a:r>
              <a:rPr lang="en-US" sz="1200" dirty="0">
                <a:solidFill>
                  <a:srgbClr val="E2EE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e.g. EI-AVL and 9H-ALI become one trusted row.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457200"/>
            <a:ext cx="803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50" y="676275"/>
            <a:ext cx="803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leadership can trust the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1257300"/>
            <a:ext cx="3848100" cy="1076623"/>
          </a:xfrm>
          <a:prstGeom prst="roundRect">
            <a:avLst>
              <a:gd name="adj" fmla="val 70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63501" y="1460450"/>
            <a:ext cx="3510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3501" y="1736675"/>
            <a:ext cx="3510635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gold field traces to Leaseworks, Core Financial, or Aerlytix.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0350" y="2511623"/>
            <a:ext cx="3848100" cy="1076623"/>
          </a:xfrm>
          <a:prstGeom prst="roundRect">
            <a:avLst>
              <a:gd name="adj" fmla="val 70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3501" y="2714774"/>
            <a:ext cx="35106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publish path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3501" y="2990999"/>
            <a:ext cx="3510635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UI and Power BI read the same table — no parallel export.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86151" y="1257300"/>
            <a:ext cx="3848249" cy="1076623"/>
          </a:xfrm>
          <a:prstGeom prst="roundRect">
            <a:avLst>
              <a:gd name="adj" fmla="val 70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89302" y="1460450"/>
            <a:ext cx="3510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89302" y="1736675"/>
            <a:ext cx="3510787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keys and odd rent values stop before the board pack refreshes.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86151" y="2511623"/>
            <a:ext cx="3848249" cy="1076623"/>
          </a:xfrm>
          <a:prstGeom prst="roundRect">
            <a:avLst>
              <a:gd name="adj" fmla="val 707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9302" y="2714774"/>
            <a:ext cx="35107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definitions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89302" y="2990999"/>
            <a:ext cx="3510787" cy="394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“On lease” and “YTD rent” mean one thing, written once.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457200"/>
            <a:ext cx="803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PATH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50" y="676275"/>
            <a:ext cx="803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Consolidation is the AI step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1104900"/>
            <a:ext cx="80315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only helps when it reads checked fleet data — not three spreadsheets.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0350" y="1479500"/>
            <a:ext cx="2523083" cy="758577"/>
          </a:xfrm>
          <a:prstGeom prst="roundRect">
            <a:avLst>
              <a:gd name="adj" fmla="val 10045"/>
            </a:avLst>
          </a:prstGeom>
          <a:solidFill>
            <a:srgbClr val="003B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0568" y="1657201"/>
            <a:ext cx="226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0568" y="1907977"/>
            <a:ext cx="22626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gold fleet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35834" y="1479500"/>
            <a:ext cx="2523083" cy="758577"/>
          </a:xfrm>
          <a:prstGeom prst="roundRect">
            <a:avLst>
              <a:gd name="adj" fmla="val 10045"/>
            </a:avLst>
          </a:prstGeom>
          <a:solidFill>
            <a:srgbClr val="00B7C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66051" y="1657201"/>
            <a:ext cx="226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66051" y="1907977"/>
            <a:ext cx="22626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+ Power BI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11317" y="1479500"/>
            <a:ext cx="2523083" cy="758577"/>
          </a:xfrm>
          <a:prstGeom prst="roundRect">
            <a:avLst>
              <a:gd name="adj" fmla="val 10045"/>
            </a:avLst>
          </a:prstGeom>
          <a:solidFill>
            <a:srgbClr val="EC00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41534" y="1657201"/>
            <a:ext cx="226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1534" y="1907977"/>
            <a:ext cx="22626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Fabric Copilot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0350" y="2415778"/>
            <a:ext cx="7874050" cy="1153120"/>
          </a:xfrm>
          <a:prstGeom prst="roundRect">
            <a:avLst>
              <a:gd name="adj" fmla="val 660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88950" y="2593479"/>
            <a:ext cx="7565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the platform should answer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8950" y="2866430"/>
            <a:ext cx="7416850" cy="474018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667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aircraft come off lease in the next 90 days, and what is YTD rent?</a:t>
            </a:r>
            <a:endParaRPr lang="en-US" sz="1150" dirty="0"/>
          </a:p>
          <a:p>
            <a:pPr algn="l" marL="101600" indent="-101600">
              <a:lnSpc>
                <a:spcPts val="1667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Leaseworks and Core Financial disagree on a tail?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457200"/>
            <a:ext cx="803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50" y="676275"/>
            <a:ext cx="803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Fabric — one workspace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1130201"/>
            <a:ext cx="69951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Salesforce Data Cloud. Finance sits outside Salesforce — the lake joins it with Leaseworks and Aerlytix.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60350" y="1676251"/>
            <a:ext cx="1854101" cy="1151632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2750" y="1853952"/>
            <a:ext cx="15802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OneLake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50" y="2101602"/>
            <a:ext cx="1580287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storage for bronze, silver, gold.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66851" y="1676251"/>
            <a:ext cx="1854250" cy="1151632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19251" y="1853952"/>
            <a:ext cx="1580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Factory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19251" y="2101602"/>
            <a:ext cx="1580439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collect from the three systems.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73501" y="1676251"/>
            <a:ext cx="1854250" cy="1151632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825901" y="1853952"/>
            <a:ext cx="158043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DirectLake / Power BI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25901" y="2273052"/>
            <a:ext cx="1580439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packs on the same gold fleet.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80150" y="1676251"/>
            <a:ext cx="1854250" cy="1151632"/>
          </a:xfrm>
          <a:prstGeom prst="roundRect">
            <a:avLst>
              <a:gd name="adj" fmla="val 66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32550" y="1853952"/>
            <a:ext cx="15804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32550" y="2101602"/>
            <a:ext cx="1580439" cy="377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questions on trusted data.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0350" y="3005584"/>
            <a:ext cx="7874050" cy="50184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84163" y="3005584"/>
            <a:ext cx="0" cy="501848"/>
          </a:xfrm>
          <a:prstGeom prst="line">
            <a:avLst/>
          </a:prstGeom>
          <a:noFill/>
          <a:ln w="47625">
            <a:solidFill>
              <a:srgbClr val="EC00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126" y="3157984"/>
            <a:ext cx="7568526" cy="19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Fabric run cost for this scope: roughly </a:t>
            </a:r>
            <a:pPr algn="l" indent="0" marL="0">
              <a:lnSpc>
                <a:spcPts val="1552"/>
              </a:lnSpc>
              <a:buNone/>
            </a:pPr>
            <a:r>
              <a:rPr lang="en-US" sz="115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$650–2,500 / month</a:t>
            </a:r>
            <a:pPr algn="l" indent="0" marL="0">
              <a:lnSpc>
                <a:spcPts val="1552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confirm with Microsoft sizing.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457200"/>
            <a:ext cx="80315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60350" y="676275"/>
            <a:ext cx="803153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2400" b="1" dirty="0">
                <a:solidFill>
                  <a:srgbClr val="003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· Next · Then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0350" y="1257300"/>
            <a:ext cx="2506117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051" y="1460450"/>
            <a:ext cx="219373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8051" y="1714351"/>
            <a:ext cx="219373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gold fleet for priority tails. Prove ops + finance join.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344168" y="1257300"/>
            <a:ext cx="2506266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21869" y="1460450"/>
            <a:ext cx="2193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21869" y="1714351"/>
            <a:ext cx="219388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pack on DirectLake. Harden quality gates.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028134" y="1257300"/>
            <a:ext cx="2506266" cy="1071563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05835" y="1460450"/>
            <a:ext cx="219388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00B7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05835" y="1714351"/>
            <a:ext cx="2193881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rollout — Copilot on the same trusted fleet, not Excel.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350" y="2532013"/>
            <a:ext cx="7874050" cy="822127"/>
          </a:xfrm>
          <a:prstGeom prst="roundRect">
            <a:avLst>
              <a:gd name="adj" fmla="val 9269"/>
            </a:avLst>
          </a:prstGeom>
          <a:solidFill>
            <a:srgbClr val="003B5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4251" y="2735163"/>
            <a:ext cx="26199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step: walk the live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251" y="2998589"/>
            <a:ext cx="2619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9EC4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→ Sync → Fleet →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88734" y="2857351"/>
            <a:ext cx="8076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00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PRODIGY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AviLease — One number for the fleet</dc:title>
  <dc:subject>Microsoft Fabric enterprise architecture briefing</dc:subject>
  <dc:creator>Prodigy</dc:creator>
  <cp:lastModifiedBy>Prodigy</cp:lastModifiedBy>
  <cp:revision>1</cp:revision>
  <dcterms:created xsi:type="dcterms:W3CDTF">2026-08-17T14:26:46Z</dcterms:created>
  <dcterms:modified xsi:type="dcterms:W3CDTF">2026-08-17T14:26:46Z</dcterms:modified>
</cp:coreProperties>
</file>